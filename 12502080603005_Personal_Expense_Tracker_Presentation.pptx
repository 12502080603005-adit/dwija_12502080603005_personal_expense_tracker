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0005634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09728"/>
            <a:ext cx="734922" cy="658368"/>
          </a:xfrm>
          <a:prstGeom prst="rect">
            <a:avLst/>
          </a:prstGeom>
        </p:spPr>
      </p:pic>
      <p:pic>
        <p:nvPicPr>
          <p:cNvPr id="4" name="Picture 3" descr="100056348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109728"/>
            <a:ext cx="64208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5880" y="100584"/>
            <a:ext cx="9555480" cy="676656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ctr"/>
            <a:r>
              <a:rPr sz="1400" b="1">
                <a:solidFill>
                  <a:srgbClr val="233969"/>
                </a:solidFill>
                <a:latin typeface="Aptos"/>
              </a:rPr>
              <a:t>A D PATEL INSTITUTE OF TECHNOLOGY
THE CHARUTAR VIDYA MANDAL
DEPT. OF INFORMATION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EBB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69880" y="6537960"/>
            <a:ext cx="1417320" cy="164592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r"/>
            <a:r>
              <a:rPr sz="800" b="0">
                <a:solidFill>
                  <a:srgbClr val="233969"/>
                </a:solidFill>
                <a:latin typeface="Aptos"/>
              </a:rPr>
              <a:t>Parmar Dwija  • 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353312"/>
            <a:ext cx="10378440" cy="4800600"/>
          </a:xfrm>
          <a:prstGeom prst="roundRect">
            <a:avLst/>
          </a:prstGeom>
          <a:solidFill>
            <a:srgbClr val="F1F7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828800"/>
            <a:ext cx="9418320" cy="365760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ctr"/>
            <a:r>
              <a:rPr sz="1700" b="1">
                <a:solidFill>
                  <a:srgbClr val="2470B1"/>
                </a:solidFill>
                <a:latin typeface="Aptos"/>
              </a:rPr>
              <a:t>PYTHON MINI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331720"/>
            <a:ext cx="9875520" cy="685800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ctr"/>
            <a:r>
              <a:rPr sz="3100" b="1">
                <a:solidFill>
                  <a:srgbClr val="233969"/>
                </a:solidFill>
                <a:latin typeface="Aptos"/>
              </a:rPr>
              <a:t>PERSONAL EXPENSE TRACKER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154680"/>
            <a:ext cx="8961120" cy="411480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ctr"/>
            <a:r>
              <a:rPr sz="1700" b="0">
                <a:solidFill>
                  <a:srgbClr val="4E5B69"/>
                </a:solidFill>
                <a:latin typeface="Aptos"/>
              </a:rPr>
              <a:t>A simple desktop application for tracking daily spending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7320" y="3840480"/>
            <a:ext cx="1645920" cy="438912"/>
          </a:xfrm>
          <a:prstGeom prst="roundRect">
            <a:avLst/>
          </a:prstGeom>
          <a:solidFill>
            <a:srgbClr val="247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100" b="1">
                <a:solidFill>
                  <a:srgbClr val="FFFFFF"/>
                </a:solidFill>
              </a:rPr>
              <a:t>LISTS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3840480"/>
            <a:ext cx="2148840" cy="438912"/>
          </a:xfrm>
          <a:prstGeom prst="roundRect">
            <a:avLst/>
          </a:prstGeom>
          <a:solidFill>
            <a:srgbClr val="233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DICTIONARIES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3840480"/>
            <a:ext cx="1965960" cy="438912"/>
          </a:xfrm>
          <a:prstGeom prst="roundRect">
            <a:avLst/>
          </a:prstGeom>
          <a:solidFill>
            <a:srgbClr val="328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FILE HANDLING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3840480"/>
            <a:ext cx="1645920" cy="438912"/>
          </a:xfrm>
          <a:prstGeom prst="roundRect">
            <a:avLst/>
          </a:prstGeom>
          <a:solidFill>
            <a:srgbClr val="EBB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TKINTER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617720"/>
            <a:ext cx="8503920" cy="320040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ctr"/>
            <a:r>
              <a:rPr sz="1700" b="1">
                <a:solidFill>
                  <a:srgbClr val="233969"/>
                </a:solidFill>
                <a:latin typeface="Aptos"/>
              </a:rPr>
              <a:t>Presented by: Parmar Dwija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010912"/>
            <a:ext cx="8503920" cy="274320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ctr"/>
            <a:r>
              <a:rPr sz="1400" b="0">
                <a:solidFill>
                  <a:srgbClr val="4E5B69"/>
                </a:solidFill>
                <a:latin typeface="Aptos"/>
              </a:rPr>
              <a:t>Enrollment No.: 12502080603005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376672"/>
            <a:ext cx="8503920" cy="274320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ctr"/>
            <a:r>
              <a:rPr sz="1400" b="0">
                <a:solidFill>
                  <a:srgbClr val="4E5B69"/>
                </a:solidFill>
                <a:latin typeface="Aptos"/>
              </a:rPr>
              <a:t>Faculty Guide: Nayan Mali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0005634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09728"/>
            <a:ext cx="734922" cy="658368"/>
          </a:xfrm>
          <a:prstGeom prst="rect">
            <a:avLst/>
          </a:prstGeom>
        </p:spPr>
      </p:pic>
      <p:pic>
        <p:nvPicPr>
          <p:cNvPr id="4" name="Picture 3" descr="100056348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109728"/>
            <a:ext cx="64208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5880" y="100584"/>
            <a:ext cx="9555480" cy="676656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ctr"/>
            <a:r>
              <a:rPr sz="1400" b="1">
                <a:solidFill>
                  <a:srgbClr val="233969"/>
                </a:solidFill>
                <a:latin typeface="Aptos"/>
              </a:rPr>
              <a:t>A D PATEL INSTITUTE OF TECHNOLOGY
THE CHARUTAR VIDYA MANDAL
DEPT. OF INFORMATION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EBB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69880" y="6537960"/>
            <a:ext cx="1417320" cy="164592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r"/>
            <a:r>
              <a:rPr sz="800" b="0">
                <a:solidFill>
                  <a:srgbClr val="233969"/>
                </a:solidFill>
                <a:latin typeface="Aptos"/>
              </a:rPr>
              <a:t>Parmar Dwija  • 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097280"/>
            <a:ext cx="10972800" cy="475488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2700" b="1">
                <a:solidFill>
                  <a:srgbClr val="233969"/>
                </a:solidFill>
                <a:latin typeface="Aptos"/>
              </a:rPr>
              <a:t>1. Introduction &amp; Problem Statement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5212080" cy="3337560"/>
          </a:xfrm>
          <a:prstGeom prst="roundRect">
            <a:avLst/>
          </a:prstGeom>
          <a:solidFill>
            <a:srgbClr val="F1F7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965960"/>
            <a:ext cx="82296" cy="3337560"/>
          </a:xfrm>
          <a:prstGeom prst="rect">
            <a:avLst/>
          </a:prstGeom>
          <a:solidFill>
            <a:srgbClr val="EBB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84831"/>
            <a:ext cx="4864608" cy="329184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700" b="1">
                <a:solidFill>
                  <a:srgbClr val="233969"/>
                </a:solidFill>
                <a:latin typeface="Aptos"/>
              </a:rPr>
              <a:t>THE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487168"/>
            <a:ext cx="4846320" cy="2734056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300" b="0">
                <a:solidFill>
                  <a:srgbClr val="4E5B69"/>
                </a:solidFill>
                <a:latin typeface="Aptos"/>
              </a:rPr>
              <a:t>• Expenses may be forgotten
• Records can be scattered
• Manual totals take time
• Reviewing spending is difficult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65960"/>
            <a:ext cx="5212080" cy="3337560"/>
          </a:xfrm>
          <a:prstGeom prst="roundRect">
            <a:avLst/>
          </a:prstGeom>
          <a:solidFill>
            <a:srgbClr val="F1F7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965960"/>
            <a:ext cx="82296" cy="3337560"/>
          </a:xfrm>
          <a:prstGeom prst="rect">
            <a:avLst/>
          </a:prstGeom>
          <a:solidFill>
            <a:srgbClr val="247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2084831"/>
            <a:ext cx="4864608" cy="329184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700" b="1">
                <a:solidFill>
                  <a:srgbClr val="233969"/>
                </a:solidFill>
                <a:latin typeface="Aptos"/>
              </a:rPr>
              <a:t>THE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487168"/>
            <a:ext cx="4846320" cy="2734056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300" b="0">
                <a:solidFill>
                  <a:srgbClr val="4E5B69"/>
                </a:solidFill>
                <a:latin typeface="Aptos"/>
              </a:rPr>
              <a:t>• One place for expense records
• Categorize each transaction
• Calculate total automatically
• Save data between sessions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669280"/>
            <a:ext cx="9966960" cy="347472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ctr"/>
            <a:r>
              <a:rPr sz="1700" b="1">
                <a:solidFill>
                  <a:srgbClr val="233969"/>
                </a:solidFill>
                <a:latin typeface="Aptos"/>
              </a:rPr>
              <a:t>Goal: make everyday expense tracking simple, organized, and reliable.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0005634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09728"/>
            <a:ext cx="734922" cy="658368"/>
          </a:xfrm>
          <a:prstGeom prst="rect">
            <a:avLst/>
          </a:prstGeom>
        </p:spPr>
      </p:pic>
      <p:pic>
        <p:nvPicPr>
          <p:cNvPr id="4" name="Picture 3" descr="100056348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109728"/>
            <a:ext cx="64208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5880" y="100584"/>
            <a:ext cx="9555480" cy="676656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ctr"/>
            <a:r>
              <a:rPr sz="1400" b="1">
                <a:solidFill>
                  <a:srgbClr val="233969"/>
                </a:solidFill>
                <a:latin typeface="Aptos"/>
              </a:rPr>
              <a:t>A D PATEL INSTITUTE OF TECHNOLOGY
THE CHARUTAR VIDYA MANDAL
DEPT. OF INFORMATION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EBB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69880" y="6537960"/>
            <a:ext cx="1417320" cy="164592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r"/>
            <a:r>
              <a:rPr sz="800" b="0">
                <a:solidFill>
                  <a:srgbClr val="233969"/>
                </a:solidFill>
                <a:latin typeface="Aptos"/>
              </a:rPr>
              <a:t>Parmar Dwija  • 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097280"/>
            <a:ext cx="10972800" cy="475488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2700" b="1">
                <a:solidFill>
                  <a:srgbClr val="233969"/>
                </a:solidFill>
                <a:latin typeface="Aptos"/>
              </a:rPr>
              <a:t>2. Objectives &amp; Main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3154680" cy="1508760"/>
          </a:xfrm>
          <a:prstGeom prst="roundRect">
            <a:avLst/>
          </a:prstGeom>
          <a:solidFill>
            <a:srgbClr val="F1F7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920240"/>
            <a:ext cx="82296" cy="1508760"/>
          </a:xfrm>
          <a:prstGeom prst="rect">
            <a:avLst/>
          </a:prstGeom>
          <a:solidFill>
            <a:srgbClr val="247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39112"/>
            <a:ext cx="2807208" cy="329184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700" b="1">
                <a:solidFill>
                  <a:srgbClr val="233969"/>
                </a:solidFill>
                <a:latin typeface="Aptos"/>
              </a:rPr>
              <a:t>ADD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441448"/>
            <a:ext cx="2788920" cy="905255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300" b="0">
                <a:solidFill>
                  <a:srgbClr val="4E5B69"/>
                </a:solidFill>
                <a:latin typeface="Aptos"/>
              </a:rPr>
              <a:t>Enter expense name, amount, category and 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920240"/>
            <a:ext cx="3154680" cy="1508760"/>
          </a:xfrm>
          <a:prstGeom prst="roundRect">
            <a:avLst/>
          </a:prstGeom>
          <a:solidFill>
            <a:srgbClr val="F1F7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1920240"/>
            <a:ext cx="82296" cy="1508760"/>
          </a:xfrm>
          <a:prstGeom prst="rect">
            <a:avLst/>
          </a:prstGeom>
          <a:solidFill>
            <a:srgbClr val="EBB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2039112"/>
            <a:ext cx="2807208" cy="329184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700" b="1">
                <a:solidFill>
                  <a:srgbClr val="233969"/>
                </a:solidFill>
                <a:latin typeface="Aptos"/>
              </a:rPr>
              <a:t>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441448"/>
            <a:ext cx="2788920" cy="905255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300" b="0">
                <a:solidFill>
                  <a:srgbClr val="4E5B69"/>
                </a:solidFill>
                <a:latin typeface="Aptos"/>
              </a:rPr>
              <a:t>See saved expenses in a table.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1920240"/>
            <a:ext cx="3154680" cy="1508760"/>
          </a:xfrm>
          <a:prstGeom prst="roundRect">
            <a:avLst/>
          </a:prstGeom>
          <a:solidFill>
            <a:srgbClr val="F1F7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1920240"/>
            <a:ext cx="82296" cy="1508760"/>
          </a:xfrm>
          <a:prstGeom prst="rect">
            <a:avLst/>
          </a:prstGeom>
          <a:solidFill>
            <a:srgbClr val="328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2039112"/>
            <a:ext cx="2807208" cy="329184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700" b="1">
                <a:solidFill>
                  <a:srgbClr val="233969"/>
                </a:solidFill>
                <a:latin typeface="Aptos"/>
              </a:rPr>
              <a:t>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2441448"/>
            <a:ext cx="2788920" cy="905255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300" b="0">
                <a:solidFill>
                  <a:srgbClr val="4E5B69"/>
                </a:solidFill>
                <a:latin typeface="Aptos"/>
              </a:rPr>
              <a:t>Calculate total spending automatically.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794760"/>
            <a:ext cx="3154680" cy="1508760"/>
          </a:xfrm>
          <a:prstGeom prst="roundRect">
            <a:avLst/>
          </a:prstGeom>
          <a:solidFill>
            <a:srgbClr val="F1F7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794760"/>
            <a:ext cx="82296" cy="1508760"/>
          </a:xfrm>
          <a:prstGeom prst="rect">
            <a:avLst/>
          </a:prstGeom>
          <a:solidFill>
            <a:srgbClr val="233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3913632"/>
            <a:ext cx="2807208" cy="329184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700" b="1">
                <a:solidFill>
                  <a:srgbClr val="233969"/>
                </a:solidFill>
                <a:latin typeface="Aptos"/>
              </a:rPr>
              <a:t>SAVE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315968"/>
            <a:ext cx="2788920" cy="905255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300" b="0">
                <a:solidFill>
                  <a:srgbClr val="4E5B69"/>
                </a:solidFill>
                <a:latin typeface="Aptos"/>
              </a:rPr>
              <a:t>Keep records in a local file.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3794760"/>
            <a:ext cx="3154680" cy="1508760"/>
          </a:xfrm>
          <a:prstGeom prst="roundRect">
            <a:avLst/>
          </a:prstGeom>
          <a:solidFill>
            <a:srgbClr val="F1F7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60520" y="3794760"/>
            <a:ext cx="82296" cy="1508760"/>
          </a:xfrm>
          <a:prstGeom prst="rect">
            <a:avLst/>
          </a:prstGeom>
          <a:solidFill>
            <a:srgbClr val="EBB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1688" y="3913632"/>
            <a:ext cx="2807208" cy="329184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700" b="1">
                <a:solidFill>
                  <a:srgbClr val="233969"/>
                </a:solidFill>
                <a:latin typeface="Aptos"/>
              </a:rPr>
              <a:t>DELETE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4315968"/>
            <a:ext cx="2788920" cy="905255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300" b="0">
                <a:solidFill>
                  <a:srgbClr val="4E5B69"/>
                </a:solidFill>
                <a:latin typeface="Aptos"/>
              </a:rPr>
              <a:t>Remove a selected expense.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3794760"/>
            <a:ext cx="3154680" cy="1508760"/>
          </a:xfrm>
          <a:prstGeom prst="roundRect">
            <a:avLst/>
          </a:prstGeom>
          <a:solidFill>
            <a:srgbClr val="F1F7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89520" y="3794760"/>
            <a:ext cx="82296" cy="1508760"/>
          </a:xfrm>
          <a:prstGeom prst="rect">
            <a:avLst/>
          </a:prstGeom>
          <a:solidFill>
            <a:srgbClr val="247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0688" y="3913632"/>
            <a:ext cx="2807208" cy="329184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700" b="1">
                <a:solidFill>
                  <a:srgbClr val="233969"/>
                </a:solidFill>
                <a:latin typeface="Aptos"/>
              </a:rPr>
              <a:t>VALIDATE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90688" y="4315968"/>
            <a:ext cx="2788920" cy="905255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300" b="0">
                <a:solidFill>
                  <a:srgbClr val="4E5B69"/>
                </a:solidFill>
                <a:latin typeface="Aptos"/>
              </a:rPr>
              <a:t>Check required fields and amount.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0005634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09728"/>
            <a:ext cx="734922" cy="658368"/>
          </a:xfrm>
          <a:prstGeom prst="rect">
            <a:avLst/>
          </a:prstGeom>
        </p:spPr>
      </p:pic>
      <p:pic>
        <p:nvPicPr>
          <p:cNvPr id="4" name="Picture 3" descr="100056348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109728"/>
            <a:ext cx="64208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5880" y="100584"/>
            <a:ext cx="9555480" cy="676656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ctr"/>
            <a:r>
              <a:rPr sz="1400" b="1">
                <a:solidFill>
                  <a:srgbClr val="233969"/>
                </a:solidFill>
                <a:latin typeface="Aptos"/>
              </a:rPr>
              <a:t>A D PATEL INSTITUTE OF TECHNOLOGY
THE CHARUTAR VIDYA MANDAL
DEPT. OF INFORMATION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EBB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69880" y="6537960"/>
            <a:ext cx="1417320" cy="164592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r"/>
            <a:r>
              <a:rPr sz="800" b="0">
                <a:solidFill>
                  <a:srgbClr val="233969"/>
                </a:solidFill>
                <a:latin typeface="Aptos"/>
              </a:rPr>
              <a:t>Parmar Dwija  • 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097280"/>
            <a:ext cx="10972800" cy="475488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2700" b="1">
                <a:solidFill>
                  <a:srgbClr val="233969"/>
                </a:solidFill>
                <a:latin typeface="Aptos"/>
              </a:rPr>
              <a:t>3. Python Concepts 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81912"/>
            <a:ext cx="10698480" cy="292608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300" b="0">
                <a:solidFill>
                  <a:srgbClr val="4E5B69"/>
                </a:solidFill>
                <a:latin typeface="Aptos"/>
              </a:rPr>
              <a:t>How the required Python concepts work together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20240"/>
            <a:ext cx="5212080" cy="1508760"/>
          </a:xfrm>
          <a:prstGeom prst="roundRect">
            <a:avLst/>
          </a:prstGeom>
          <a:solidFill>
            <a:srgbClr val="F1F7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920240"/>
            <a:ext cx="82296" cy="1508760"/>
          </a:xfrm>
          <a:prstGeom prst="rect">
            <a:avLst/>
          </a:prstGeom>
          <a:solidFill>
            <a:srgbClr val="247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39112"/>
            <a:ext cx="4864608" cy="329184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700" b="1">
                <a:solidFill>
                  <a:srgbClr val="233969"/>
                </a:solidFill>
                <a:latin typeface="Aptos"/>
              </a:rPr>
              <a:t>LISTS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441448"/>
            <a:ext cx="4846320" cy="905255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300" b="0">
                <a:solidFill>
                  <a:srgbClr val="4E5B69"/>
                </a:solidFill>
                <a:latin typeface="Aptos"/>
              </a:rPr>
              <a:t>Store a collection of expense records.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920240"/>
            <a:ext cx="5212080" cy="1508760"/>
          </a:xfrm>
          <a:prstGeom prst="roundRect">
            <a:avLst/>
          </a:prstGeom>
          <a:solidFill>
            <a:srgbClr val="F1F7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920240"/>
            <a:ext cx="82296" cy="1508760"/>
          </a:xfrm>
          <a:prstGeom prst="rect">
            <a:avLst/>
          </a:prstGeom>
          <a:solidFill>
            <a:srgbClr val="EBB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7" y="2039112"/>
            <a:ext cx="4864608" cy="329184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700" b="1">
                <a:solidFill>
                  <a:srgbClr val="233969"/>
                </a:solidFill>
                <a:latin typeface="Aptos"/>
              </a:rPr>
              <a:t>DICTIONARIES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2441448"/>
            <a:ext cx="4846320" cy="905255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300" b="0">
                <a:solidFill>
                  <a:srgbClr val="4E5B69"/>
                </a:solidFill>
                <a:latin typeface="Aptos"/>
              </a:rPr>
              <a:t>Represent each expense using keys such as name, amount, category and date.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49039"/>
            <a:ext cx="5212080" cy="1508760"/>
          </a:xfrm>
          <a:prstGeom prst="roundRect">
            <a:avLst/>
          </a:prstGeom>
          <a:solidFill>
            <a:srgbClr val="F1F7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749039"/>
            <a:ext cx="82296" cy="1508760"/>
          </a:xfrm>
          <a:prstGeom prst="rect">
            <a:avLst/>
          </a:prstGeom>
          <a:solidFill>
            <a:srgbClr val="328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67911"/>
            <a:ext cx="4864608" cy="329184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700" b="1">
                <a:solidFill>
                  <a:srgbClr val="233969"/>
                </a:solidFill>
                <a:latin typeface="Aptos"/>
              </a:rPr>
              <a:t>FILE HANDLING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270248"/>
            <a:ext cx="4846320" cy="905255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300" b="0">
                <a:solidFill>
                  <a:srgbClr val="4E5B69"/>
                </a:solidFill>
                <a:latin typeface="Aptos"/>
              </a:rPr>
              <a:t>Read saved records at startup and write updated data to a file.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749039"/>
            <a:ext cx="5212080" cy="1508760"/>
          </a:xfrm>
          <a:prstGeom prst="roundRect">
            <a:avLst/>
          </a:prstGeom>
          <a:solidFill>
            <a:srgbClr val="F1F7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749039"/>
            <a:ext cx="82296" cy="1508760"/>
          </a:xfrm>
          <a:prstGeom prst="rect">
            <a:avLst/>
          </a:prstGeom>
          <a:solidFill>
            <a:srgbClr val="233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7" y="3867911"/>
            <a:ext cx="4864608" cy="329184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700" b="1">
                <a:solidFill>
                  <a:srgbClr val="233969"/>
                </a:solidFill>
                <a:latin typeface="Aptos"/>
              </a:rPr>
              <a:t>TKINTER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7" y="4270248"/>
            <a:ext cx="4846320" cy="905255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300" b="0">
                <a:solidFill>
                  <a:srgbClr val="4E5B69"/>
                </a:solidFill>
                <a:latin typeface="Aptos"/>
              </a:rPr>
              <a:t>Create the GUI: input fields, category selector, buttons and table.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ctr"/>
            <a:r>
              <a:rPr sz="1500" b="1">
                <a:solidFill>
                  <a:srgbClr val="233969"/>
                </a:solidFill>
                <a:latin typeface="Aptos"/>
              </a:rPr>
              <a:t>Data flow: User Input → Python Logic → List / Dictionary → File → Updated Display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0005634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09728"/>
            <a:ext cx="734922" cy="658368"/>
          </a:xfrm>
          <a:prstGeom prst="rect">
            <a:avLst/>
          </a:prstGeom>
        </p:spPr>
      </p:pic>
      <p:pic>
        <p:nvPicPr>
          <p:cNvPr id="4" name="Picture 3" descr="100056348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109728"/>
            <a:ext cx="64208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5880" y="100584"/>
            <a:ext cx="9555480" cy="676656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ctr"/>
            <a:r>
              <a:rPr sz="1400" b="1">
                <a:solidFill>
                  <a:srgbClr val="233969"/>
                </a:solidFill>
                <a:latin typeface="Aptos"/>
              </a:rPr>
              <a:t>A D PATEL INSTITUTE OF TECHNOLOGY
THE CHARUTAR VIDYA MANDAL
DEPT. OF INFORMATION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EBB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69880" y="6537960"/>
            <a:ext cx="1417320" cy="164592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r"/>
            <a:r>
              <a:rPr sz="800" b="0">
                <a:solidFill>
                  <a:srgbClr val="233969"/>
                </a:solidFill>
                <a:latin typeface="Aptos"/>
              </a:rPr>
              <a:t>Parmar Dwija  • 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097280"/>
            <a:ext cx="10972800" cy="475488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2700" b="1">
                <a:solidFill>
                  <a:srgbClr val="233969"/>
                </a:solidFill>
                <a:latin typeface="Aptos"/>
              </a:rPr>
              <a:t>4. System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81912"/>
            <a:ext cx="10698480" cy="292608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300" b="0">
                <a:solidFill>
                  <a:srgbClr val="4E5B69"/>
                </a:solidFill>
                <a:latin typeface="Aptos"/>
              </a:rPr>
              <a:t>The main steps performed by the application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1965960" cy="914400"/>
          </a:xfrm>
          <a:prstGeom prst="roundRect">
            <a:avLst/>
          </a:prstGeom>
          <a:solidFill>
            <a:srgbClr val="2470B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Launch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240280"/>
            <a:ext cx="1965960" cy="914400"/>
          </a:xfrm>
          <a:prstGeom prst="roundRect">
            <a:avLst/>
          </a:prstGeom>
          <a:solidFill>
            <a:srgbClr val="23396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Load Saved
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2240280"/>
            <a:ext cx="1965960" cy="914400"/>
          </a:xfrm>
          <a:prstGeom prst="roundRect">
            <a:avLst/>
          </a:prstGeom>
          <a:solidFill>
            <a:srgbClr val="3287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Enter Expense
Details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240280"/>
            <a:ext cx="1965960" cy="914400"/>
          </a:xfrm>
          <a:prstGeom prst="roundRect">
            <a:avLst/>
          </a:prstGeom>
          <a:solidFill>
            <a:srgbClr val="2470B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Validate &amp;
Update 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38360" y="4023360"/>
            <a:ext cx="1828800" cy="914400"/>
          </a:xfrm>
          <a:prstGeom prst="roundRect">
            <a:avLst/>
          </a:prstGeom>
          <a:solidFill>
            <a:srgbClr val="23396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Refresh Total
&amp; Display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4023360"/>
            <a:ext cx="1965960" cy="914400"/>
          </a:xfrm>
          <a:prstGeom prst="roundRect">
            <a:avLst/>
          </a:prstGeom>
          <a:solidFill>
            <a:srgbClr val="3287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Save to File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06040" y="2697480"/>
            <a:ext cx="365760" cy="0"/>
          </a:xfrm>
          <a:prstGeom prst="line">
            <a:avLst/>
          </a:prstGeom>
          <a:ln w="25400">
            <a:solidFill>
              <a:srgbClr val="EBB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937760" y="2697480"/>
            <a:ext cx="365760" cy="0"/>
          </a:xfrm>
          <a:prstGeom prst="line">
            <a:avLst/>
          </a:prstGeom>
          <a:ln w="25400">
            <a:solidFill>
              <a:srgbClr val="EBB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269480" y="2697480"/>
            <a:ext cx="365760" cy="0"/>
          </a:xfrm>
          <a:prstGeom prst="line">
            <a:avLst/>
          </a:prstGeom>
          <a:ln w="25400">
            <a:solidFill>
              <a:srgbClr val="EBB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8046720" y="3154680"/>
            <a:ext cx="685800" cy="868680"/>
          </a:xfrm>
          <a:prstGeom prst="line">
            <a:avLst/>
          </a:prstGeom>
          <a:ln w="25400">
            <a:solidFill>
              <a:srgbClr val="EBB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06840" y="4480560"/>
            <a:ext cx="731520" cy="0"/>
          </a:xfrm>
          <a:prstGeom prst="line">
            <a:avLst/>
          </a:prstGeom>
          <a:ln w="25400">
            <a:solidFill>
              <a:srgbClr val="EBB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5623560"/>
            <a:ext cx="10332720" cy="411480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ctr"/>
            <a:r>
              <a:rPr sz="1500" b="0">
                <a:solidFill>
                  <a:srgbClr val="4E5B69"/>
                </a:solidFill>
                <a:latin typeface="Aptos"/>
              </a:rPr>
              <a:t>Delete action follows the same update → save → refresh process.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0005634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09728"/>
            <a:ext cx="734922" cy="658368"/>
          </a:xfrm>
          <a:prstGeom prst="rect">
            <a:avLst/>
          </a:prstGeom>
        </p:spPr>
      </p:pic>
      <p:pic>
        <p:nvPicPr>
          <p:cNvPr id="4" name="Picture 3" descr="100056348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109728"/>
            <a:ext cx="64208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5880" y="100584"/>
            <a:ext cx="9555480" cy="676656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ctr"/>
            <a:r>
              <a:rPr sz="1400" b="1">
                <a:solidFill>
                  <a:srgbClr val="233969"/>
                </a:solidFill>
                <a:latin typeface="Aptos"/>
              </a:rPr>
              <a:t>A D PATEL INSTITUTE OF TECHNOLOGY
THE CHARUTAR VIDYA MANDAL
DEPT. OF INFORMATION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EBB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69880" y="6537960"/>
            <a:ext cx="1417320" cy="164592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r"/>
            <a:r>
              <a:rPr sz="800" b="0">
                <a:solidFill>
                  <a:srgbClr val="233969"/>
                </a:solidFill>
                <a:latin typeface="Aptos"/>
              </a:rPr>
              <a:t>Parmar Dwija  • 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097280"/>
            <a:ext cx="10972800" cy="475488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2700" b="1">
                <a:solidFill>
                  <a:srgbClr val="233969"/>
                </a:solidFill>
                <a:latin typeface="Aptos"/>
              </a:rPr>
              <a:t>5. Testing &amp; Expected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5212080" cy="3246120"/>
          </a:xfrm>
          <a:prstGeom prst="roundRect">
            <a:avLst/>
          </a:prstGeom>
          <a:solidFill>
            <a:srgbClr val="F1F7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965960"/>
            <a:ext cx="82296" cy="3246120"/>
          </a:xfrm>
          <a:prstGeom prst="rect">
            <a:avLst/>
          </a:prstGeom>
          <a:solidFill>
            <a:srgbClr val="247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84831"/>
            <a:ext cx="4864608" cy="329184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700" b="1">
                <a:solidFill>
                  <a:srgbClr val="233969"/>
                </a:solidFill>
                <a:latin typeface="Aptos"/>
              </a:rPr>
              <a:t>TEST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487168"/>
            <a:ext cx="4846320" cy="2642615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300" b="0">
                <a:solidFill>
                  <a:srgbClr val="4E5B69"/>
                </a:solidFill>
                <a:latin typeface="Aptos"/>
              </a:rPr>
              <a:t>1. Add a valid expense
2. Reject an invalid amount
3. Save and reopen the app
4. Delete a selected record
5. Verify total recalculation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65960"/>
            <a:ext cx="5212080" cy="3246120"/>
          </a:xfrm>
          <a:prstGeom prst="roundRect">
            <a:avLst/>
          </a:prstGeom>
          <a:solidFill>
            <a:srgbClr val="F1F7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965960"/>
            <a:ext cx="82296" cy="3246120"/>
          </a:xfrm>
          <a:prstGeom prst="rect">
            <a:avLst/>
          </a:prstGeom>
          <a:solidFill>
            <a:srgbClr val="EBB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2084831"/>
            <a:ext cx="4864608" cy="329184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700" b="1">
                <a:solidFill>
                  <a:srgbClr val="233969"/>
                </a:solidFill>
                <a:latin typeface="Aptos"/>
              </a:rPr>
              <a:t>EXPECTED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487168"/>
            <a:ext cx="4846320" cy="2642615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300" b="0">
                <a:solidFill>
                  <a:srgbClr val="4E5B69"/>
                </a:solidFill>
                <a:latin typeface="Aptos"/>
              </a:rPr>
              <a:t>• Entries appear in the table
• Invalid input is handled
• Saved records are restored
• Deleted entries disappear
• Total updates correctly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623560"/>
            <a:ext cx="10149840" cy="320040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ctr"/>
            <a:r>
              <a:rPr sz="1300" b="0">
                <a:solidFill>
                  <a:srgbClr val="4E5B69"/>
                </a:solidFill>
                <a:latin typeface="Aptos"/>
              </a:rPr>
              <a:t>Testing status should be confirmed by running the application.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0005634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09728"/>
            <a:ext cx="734922" cy="658368"/>
          </a:xfrm>
          <a:prstGeom prst="rect">
            <a:avLst/>
          </a:prstGeom>
        </p:spPr>
      </p:pic>
      <p:pic>
        <p:nvPicPr>
          <p:cNvPr id="4" name="Picture 3" descr="100056348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109728"/>
            <a:ext cx="64208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5880" y="100584"/>
            <a:ext cx="9555480" cy="676656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ctr"/>
            <a:r>
              <a:rPr sz="1400" b="1">
                <a:solidFill>
                  <a:srgbClr val="233969"/>
                </a:solidFill>
                <a:latin typeface="Aptos"/>
              </a:rPr>
              <a:t>A D PATEL INSTITUTE OF TECHNOLOGY
THE CHARUTAR VIDYA MANDAL
DEPT. OF INFORMATION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EBB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69880" y="6537960"/>
            <a:ext cx="1417320" cy="164592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r"/>
            <a:r>
              <a:rPr sz="800" b="0">
                <a:solidFill>
                  <a:srgbClr val="233969"/>
                </a:solidFill>
                <a:latin typeface="Aptos"/>
              </a:rPr>
              <a:t>Parmar Dwija  • 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097280"/>
            <a:ext cx="10972800" cy="475488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2700" b="1">
                <a:solidFill>
                  <a:srgbClr val="233969"/>
                </a:solidFill>
                <a:latin typeface="Aptos"/>
              </a:rPr>
              <a:t>6. Application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81912"/>
            <a:ext cx="10698480" cy="292608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300" b="0">
                <a:solidFill>
                  <a:srgbClr val="4E5B69"/>
                </a:solidFill>
                <a:latin typeface="Aptos"/>
              </a:rPr>
              <a:t>Screenshot of the Personal Expense Tracker interface</a:t>
            </a:r>
          </a:p>
        </p:txBody>
      </p:sp>
      <p:pic>
        <p:nvPicPr>
          <p:cNvPr id="10" name="Picture 9" descr="100057965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2605" y="1783080"/>
            <a:ext cx="6546484" cy="4526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55080"/>
            <a:ext cx="10698480" cy="201168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ctr"/>
            <a:r>
              <a:rPr sz="1200" b="1">
                <a:solidFill>
                  <a:srgbClr val="233969"/>
                </a:solidFill>
                <a:latin typeface="Aptos"/>
              </a:rPr>
              <a:t>Sample output: Food ₹2,300 + Education ₹1,500 = Total ₹3,800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0005634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09728"/>
            <a:ext cx="734922" cy="658368"/>
          </a:xfrm>
          <a:prstGeom prst="rect">
            <a:avLst/>
          </a:prstGeom>
        </p:spPr>
      </p:pic>
      <p:pic>
        <p:nvPicPr>
          <p:cNvPr id="4" name="Picture 3" descr="100056348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109728"/>
            <a:ext cx="642080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5880" y="100584"/>
            <a:ext cx="9555480" cy="676656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ctr"/>
            <a:r>
              <a:rPr sz="1400" b="1">
                <a:solidFill>
                  <a:srgbClr val="233969"/>
                </a:solidFill>
                <a:latin typeface="Aptos"/>
              </a:rPr>
              <a:t>A D PATEL INSTITUTE OF TECHNOLOGY
THE CHARUTAR VIDYA MANDAL
DEPT. OF INFORMATION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EBB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69880" y="6537960"/>
            <a:ext cx="1417320" cy="164592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r"/>
            <a:r>
              <a:rPr sz="800" b="0">
                <a:solidFill>
                  <a:srgbClr val="233969"/>
                </a:solidFill>
                <a:latin typeface="Aptos"/>
              </a:rPr>
              <a:t>Parmar Dwija  • 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097280"/>
            <a:ext cx="10972800" cy="475488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2700" b="1">
                <a:solidFill>
                  <a:srgbClr val="233969"/>
                </a:solidFill>
                <a:latin typeface="Aptos"/>
              </a:rPr>
              <a:t>7. Conclusion &amp; Future 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5212080" cy="3108960"/>
          </a:xfrm>
          <a:prstGeom prst="roundRect">
            <a:avLst/>
          </a:prstGeom>
          <a:solidFill>
            <a:srgbClr val="F1F7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965960"/>
            <a:ext cx="82296" cy="3108960"/>
          </a:xfrm>
          <a:prstGeom prst="rect">
            <a:avLst/>
          </a:prstGeom>
          <a:solidFill>
            <a:srgbClr val="247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84831"/>
            <a:ext cx="4864608" cy="329184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700" b="1">
                <a:solidFill>
                  <a:srgbClr val="233969"/>
                </a:solidFill>
                <a:latin typeface="Aptos"/>
              </a:rP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487168"/>
            <a:ext cx="4846320" cy="2505456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300" b="0">
                <a:solidFill>
                  <a:srgbClr val="4E5B69"/>
                </a:solidFill>
                <a:latin typeface="Aptos"/>
              </a:rPr>
              <a:t>The project demonstrates practical use of Lists, Dictionaries, File Handling, and Tkinter to manage personal expenses in a desktop interface.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65960"/>
            <a:ext cx="5212080" cy="3108960"/>
          </a:xfrm>
          <a:prstGeom prst="roundRect">
            <a:avLst/>
          </a:prstGeom>
          <a:solidFill>
            <a:srgbClr val="F1F7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965960"/>
            <a:ext cx="82296" cy="3108960"/>
          </a:xfrm>
          <a:prstGeom prst="rect">
            <a:avLst/>
          </a:prstGeom>
          <a:solidFill>
            <a:srgbClr val="EBB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2084831"/>
            <a:ext cx="4864608" cy="329184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700" b="1">
                <a:solidFill>
                  <a:srgbClr val="233969"/>
                </a:solidFill>
                <a:latin typeface="Aptos"/>
              </a:rPr>
              <a:t>FUTURE ENHANCEMENTS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487168"/>
            <a:ext cx="4846320" cy="2505456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l"/>
            <a:r>
              <a:rPr sz="1300" b="0">
                <a:solidFill>
                  <a:srgbClr val="4E5B69"/>
                </a:solidFill>
                <a:latin typeface="Aptos"/>
              </a:rPr>
              <a:t>Monthly budgets • Category charts • Search and filters • CSV/PDF export • Data backup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10332720" cy="502920"/>
          </a:xfrm>
          <a:prstGeom prst="rect">
            <a:avLst/>
          </a:prstGeom>
          <a:noFill/>
        </p:spPr>
        <p:txBody>
          <a:bodyPr wrap="square" lIns="64008" rIns="64008" tIns="32004" bIns="22860">
            <a:spAutoFit/>
          </a:bodyPr>
          <a:lstStyle/>
          <a:p>
            <a:pPr algn="ctr"/>
            <a:r>
              <a:rPr sz="2700" b="1">
                <a:solidFill>
                  <a:srgbClr val="233969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